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9A5F1-4394-43CC-A5E6-0854339AD59C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8A6B6-2158-4ED2-AC9A-89AB8D436F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27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12F5E-1687-47D0-A211-834FDA475EB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Sintetizzare una canzone su MATLAB - Amorosini Adriano - Elaborazione Numerica dei Segnali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56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939F-D53B-45B6-96C3-728909B210E4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Sintetizzare una canzone su MATLAB - Amorosini Adriano - Elaborazione Numerica dei Segnali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37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35AE5-E9DE-410F-BC66-06592767B673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Sintetizzare una canzone su MATLAB - Amorosini Adriano - Elaborazione Numerica dei Segnali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90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7E8F-A490-4B5E-8F97-525ABA8F1727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Sintetizzare una canzone su MATLAB - Amorosini Adriano - Elaborazione Numerica dei Segnali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90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B4607-9201-4D3C-9457-46F8371F8B1D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Sintetizzare una canzone su MATLAB - Amorosini Adriano - Elaborazione Numerica dei Segnali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21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83EB-11E1-425F-9367-57E91D5273D1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Sintetizzare una canzone su MATLAB - Amorosini Adriano - Elaborazione Numerica dei Segnali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45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26DA-4470-4EBD-8818-2B0F921A51AA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Sintetizzare una canzone su MATLAB - Amorosini Adriano - Elaborazione Numerica dei Segnali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38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5DE6E-3DF8-410C-84B1-0A45ADB20FC1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Sintetizzare una canzone su MATLAB - Amorosini Adriano - Elaborazione Numerica dei Segnali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18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1BC3-9954-4A75-85DB-2B57EBA4DE43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Sintetizzare una canzone su MATLAB - Amorosini Adriano - Elaborazione Numerica dei Segnali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83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743A4-D008-4DDC-924D-8C29DDEFB6C2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Sintetizzare una canzone su MATLAB - Amorosini Adriano - Elaborazione Numerica dei Segnali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40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178D5-8992-4005-9EB3-9483ED002293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Sintetizzare una canzone su MATLAB - Amorosini Adriano - Elaborazione Numerica dei Segnali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4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886CE64-227A-40DD-A8E7-3F44588762B2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it-IT"/>
              <a:t>Sintetizzare una canzone su MATLAB - Amorosini Adriano - Elaborazione Numerica dei Segnali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007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A88A764-39B1-6A3D-FEE7-98898CA6E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4937004" cy="4058682"/>
          </a:xfrm>
        </p:spPr>
        <p:txBody>
          <a:bodyPr anchor="t">
            <a:normAutofit/>
          </a:bodyPr>
          <a:lstStyle/>
          <a:p>
            <a:r>
              <a:rPr lang="it-IT" sz="6000" dirty="0"/>
              <a:t>SINTETIZZARE UNA CANZONE SU MATLAB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DFDBDF2-0F8B-7D4D-7D50-0F2BB5D3E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5103862"/>
            <a:ext cx="4172757" cy="845487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300" dirty="0"/>
              <a:t>Esame di Elaborazione Numerica dei Segnali, A.A 2024/2025</a:t>
            </a:r>
          </a:p>
          <a:p>
            <a:pPr>
              <a:lnSpc>
                <a:spcPct val="100000"/>
              </a:lnSpc>
            </a:pPr>
            <a:r>
              <a:rPr lang="it-IT" sz="1300" dirty="0"/>
              <a:t>A cura di Amorosini Adriano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Vista dall’alto di maracas, un organo, una chitarra e delle bacchette per la batteria su una superficie di legno">
            <a:extLst>
              <a:ext uri="{FF2B5EF4-FFF2-40B4-BE49-F238E27FC236}">
                <a16:creationId xmlns:a16="http://schemas.microsoft.com/office/drawing/2014/main" id="{E6DC34F0-5A51-4293-2738-E079B83EC5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09" r="35298" b="-1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D62CCF7-09C3-DC51-A2E1-873D87FC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0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BBBD4B-10EA-3949-99FC-B5B1A94F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Cos'è UN SUONO E COME SI RAPPRESENTA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117BF1-D5C6-C71E-5D3F-60DD267A2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Un suono, fisicamente, è causato da una variazione di pressione: è quindi una vera e propria </a:t>
            </a:r>
            <a:r>
              <a:rPr lang="it-IT" b="1" dirty="0"/>
              <a:t>onda </a:t>
            </a:r>
          </a:p>
          <a:p>
            <a:pPr algn="just"/>
            <a:r>
              <a:rPr lang="it-IT" dirty="0"/>
              <a:t>Un suono può essere </a:t>
            </a:r>
            <a:r>
              <a:rPr lang="it-IT" b="1" dirty="0"/>
              <a:t>puro</a:t>
            </a:r>
            <a:r>
              <a:rPr lang="it-IT" dirty="0"/>
              <a:t>, ovvero costituito da una sola onda sinusoidale, oppure </a:t>
            </a:r>
            <a:r>
              <a:rPr lang="it-IT" b="1" dirty="0"/>
              <a:t>complesso</a:t>
            </a:r>
            <a:r>
              <a:rPr lang="it-IT" dirty="0"/>
              <a:t>, costituito cioè da più componenti sinusoidali. La componente sinusoidale a frequenza più bassa viene detta </a:t>
            </a:r>
            <a:r>
              <a:rPr lang="it-IT" b="1" dirty="0"/>
              <a:t>fondamentale</a:t>
            </a:r>
            <a:r>
              <a:rPr lang="it-IT" dirty="0"/>
              <a:t>, mentre le altre vengono dette </a:t>
            </a:r>
            <a:r>
              <a:rPr lang="it-IT" b="1" dirty="0"/>
              <a:t>parziali</a:t>
            </a:r>
            <a:r>
              <a:rPr lang="it-IT" dirty="0"/>
              <a:t>. Inoltre, quest’ultime sono poi chiamate </a:t>
            </a:r>
            <a:r>
              <a:rPr lang="it-IT" b="1" dirty="0"/>
              <a:t>armoniche</a:t>
            </a:r>
            <a:r>
              <a:rPr lang="it-IT" dirty="0"/>
              <a:t> se sono un multiplo intero della fondamentale</a:t>
            </a:r>
          </a:p>
          <a:p>
            <a:r>
              <a:rPr lang="it-IT" dirty="0"/>
              <a:t>Riferendoci alla frequenza fondamentale, possiamo definire una </a:t>
            </a:r>
            <a:r>
              <a:rPr lang="it-IT" b="1" dirty="0"/>
              <a:t>formula</a:t>
            </a:r>
            <a:r>
              <a:rPr lang="it-IT" dirty="0"/>
              <a:t> che permette di determinare in modo univoco ogni nota: indicando come </a:t>
            </a:r>
            <a:r>
              <a:rPr lang="it-IT" dirty="0" err="1"/>
              <a:t>f</a:t>
            </a:r>
            <a:r>
              <a:rPr lang="it-IT" sz="1000" dirty="0" err="1"/>
              <a:t>rif</a:t>
            </a:r>
            <a:r>
              <a:rPr lang="it-IT" sz="1000" dirty="0"/>
              <a:t>  </a:t>
            </a:r>
            <a:r>
              <a:rPr lang="it-IT" dirty="0"/>
              <a:t>la frequenza pari a 440 Hz (La), la </a:t>
            </a:r>
            <a:r>
              <a:rPr lang="it-IT" b="1" dirty="0"/>
              <a:t>frequenza</a:t>
            </a:r>
            <a:r>
              <a:rPr lang="it-IT" dirty="0"/>
              <a:t> delle altre note si può calcolare come </a:t>
            </a:r>
          </a:p>
          <a:p>
            <a:r>
              <a:rPr lang="it-IT" b="1" dirty="0"/>
              <a:t>«</a:t>
            </a:r>
            <a:r>
              <a:rPr lang="el-GR" b="1" dirty="0"/>
              <a:t>σ</a:t>
            </a:r>
            <a:r>
              <a:rPr lang="it-IT" b="1" dirty="0"/>
              <a:t>»</a:t>
            </a:r>
            <a:r>
              <a:rPr lang="it-IT" dirty="0"/>
              <a:t> indica </a:t>
            </a:r>
            <a:r>
              <a:rPr lang="it-IT" b="1" dirty="0"/>
              <a:t>l’ottava di riferimento</a:t>
            </a:r>
            <a:r>
              <a:rPr lang="it-IT" dirty="0"/>
              <a:t>, </a:t>
            </a:r>
            <a:r>
              <a:rPr lang="it-IT" b="1" dirty="0"/>
              <a:t>«N»</a:t>
            </a:r>
            <a:r>
              <a:rPr lang="it-IT" dirty="0"/>
              <a:t> invece il </a:t>
            </a:r>
            <a:r>
              <a:rPr lang="it-IT" b="1" dirty="0"/>
              <a:t>nome della nota </a:t>
            </a:r>
            <a:r>
              <a:rPr lang="it-IT" dirty="0"/>
              <a:t>(dal La verso il Sol#)</a:t>
            </a:r>
            <a:endParaRPr lang="it-IT" b="1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59A746E-5513-3997-9B9F-51D27A493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87" y="4985875"/>
            <a:ext cx="2332297" cy="294048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FB7AA48-1F32-EBD2-8A73-B415D148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FC3A42-627D-F592-8B71-B8CB5609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5509899" cy="365125"/>
          </a:xfrm>
        </p:spPr>
        <p:txBody>
          <a:bodyPr/>
          <a:lstStyle/>
          <a:p>
            <a:r>
              <a:rPr lang="it-IT" dirty="0"/>
              <a:t>Sintetizzare una canzone su MATLAB - Amorosini Adriano - Elaborazione Numerica dei Segnali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345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DFA001-48AF-42E6-AAF2-82FC1A5F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L’idea del programma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3960FA-7ED3-557E-AF14-8ED9EDB89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794240"/>
            <a:ext cx="6328569" cy="3739896"/>
          </a:xfrm>
        </p:spPr>
        <p:txBody>
          <a:bodyPr>
            <a:noAutofit/>
          </a:bodyPr>
          <a:lstStyle/>
          <a:p>
            <a:pPr algn="just"/>
            <a:r>
              <a:rPr lang="it-IT" sz="1600" dirty="0"/>
              <a:t>Il fine del programma è quello di poter eseguire una melodia «solista» con un accompagnamento di accordi</a:t>
            </a:r>
          </a:p>
          <a:p>
            <a:pPr algn="just"/>
            <a:r>
              <a:rPr lang="it-IT" sz="1600" dirty="0"/>
              <a:t>Definita la </a:t>
            </a:r>
            <a:r>
              <a:rPr lang="it-IT" sz="1600" b="1" dirty="0"/>
              <a:t>melodia</a:t>
            </a:r>
            <a:r>
              <a:rPr lang="it-IT" sz="1600" dirty="0"/>
              <a:t> (dove la variabile «tempo» rappresenta la durata di una semiminima in secondi) ed il </a:t>
            </a:r>
            <a:r>
              <a:rPr lang="it-IT" sz="1600" b="1" dirty="0"/>
              <a:t>giro di accordi</a:t>
            </a:r>
            <a:r>
              <a:rPr lang="it-IT" sz="1600" dirty="0"/>
              <a:t>, l’idea è quella di permettere la </a:t>
            </a:r>
            <a:r>
              <a:rPr lang="it-IT" sz="1600" b="1" dirty="0"/>
              <a:t>massima personalizzazione</a:t>
            </a:r>
            <a:r>
              <a:rPr lang="it-IT" sz="1600" dirty="0"/>
              <a:t>, potendo decidere e cambiare, tra un’esecuzione e l’altra, numerosi parametri di progetto di natura musicale</a:t>
            </a:r>
          </a:p>
          <a:p>
            <a:pPr algn="just"/>
            <a:r>
              <a:rPr lang="it-IT" sz="1600" dirty="0"/>
              <a:t>Nel vettore </a:t>
            </a:r>
            <a:r>
              <a:rPr lang="it-IT" sz="1600" b="1" dirty="0"/>
              <a:t>«melodia» </a:t>
            </a:r>
            <a:r>
              <a:rPr lang="it-IT" sz="1600" dirty="0"/>
              <a:t>sono specificate le note da suonare e la loro durata, mentre nel vettore </a:t>
            </a:r>
            <a:r>
              <a:rPr lang="it-IT" sz="1600" b="1" dirty="0"/>
              <a:t>«accordi» </a:t>
            </a:r>
            <a:r>
              <a:rPr lang="it-IT" sz="1600" dirty="0"/>
              <a:t>sono presenti le toniche di ogni accordo</a:t>
            </a:r>
          </a:p>
          <a:p>
            <a:pPr algn="just"/>
            <a:r>
              <a:rPr lang="it-IT" sz="1600" dirty="0"/>
              <a:t>Si può osservare che, grazie ad una scelta che vedremo in seguito, l</a:t>
            </a:r>
            <a:r>
              <a:rPr lang="it-IT" sz="1600" b="1" dirty="0"/>
              <a:t>’ottava</a:t>
            </a:r>
            <a:r>
              <a:rPr lang="it-IT" sz="1600" dirty="0"/>
              <a:t> di riferimento, sia per la melodia che per l’accompagnamento, è </a:t>
            </a:r>
            <a:r>
              <a:rPr lang="it-IT" sz="1600" b="1" dirty="0"/>
              <a:t>specificata in partenza </a:t>
            </a:r>
            <a:r>
              <a:rPr lang="it-IT" sz="1600" dirty="0"/>
              <a:t>e non per ogni singola nota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F9EAD93-96E3-8AA6-7FB5-9067655CF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928" y="1311114"/>
            <a:ext cx="2918713" cy="162320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04CCA08-902C-199E-4BBD-AD0C17F73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928" y="3169850"/>
            <a:ext cx="3779848" cy="2568163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9954707-90FF-410D-29DD-C517E604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8152FF-64A4-4C48-2503-3217A6CCA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6689770" cy="365125"/>
          </a:xfrm>
        </p:spPr>
        <p:txBody>
          <a:bodyPr/>
          <a:lstStyle/>
          <a:p>
            <a:r>
              <a:rPr lang="it-IT" dirty="0"/>
              <a:t>Sintetizzare una canzone su MATLAB - Amorosini Adriano - Elaborazione Numerica dei Segnali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769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15ED41-A8B2-A29E-3C55-72EA5429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funzione per creare un suono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9064DD-015A-6A77-81D7-7C60FB86E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39018"/>
            <a:ext cx="5127514" cy="3275434"/>
          </a:xfrm>
        </p:spPr>
        <p:txBody>
          <a:bodyPr>
            <a:noAutofit/>
          </a:bodyPr>
          <a:lstStyle/>
          <a:p>
            <a:pPr algn="just"/>
            <a:r>
              <a:rPr lang="it-IT" sz="1600" dirty="0"/>
              <a:t>La funzione riceve come parametri, rispettivamente: </a:t>
            </a:r>
            <a:r>
              <a:rPr lang="it-IT" sz="1600" b="1" dirty="0"/>
              <a:t>la frequenza di campionamento</a:t>
            </a:r>
            <a:r>
              <a:rPr lang="it-IT" sz="1600" dirty="0"/>
              <a:t>, la </a:t>
            </a:r>
            <a:r>
              <a:rPr lang="it-IT" sz="1600" b="1" dirty="0"/>
              <a:t>durata</a:t>
            </a:r>
            <a:r>
              <a:rPr lang="it-IT" sz="1600" dirty="0"/>
              <a:t>, </a:t>
            </a:r>
            <a:r>
              <a:rPr lang="it-IT" sz="1600" b="1" dirty="0"/>
              <a:t>l’indice identificativo della nota</a:t>
            </a:r>
            <a:r>
              <a:rPr lang="it-IT" sz="1600" dirty="0"/>
              <a:t>, l’</a:t>
            </a:r>
            <a:r>
              <a:rPr lang="it-IT" sz="1600" b="1" dirty="0"/>
              <a:t>ottava</a:t>
            </a:r>
            <a:r>
              <a:rPr lang="it-IT" sz="1600" dirty="0"/>
              <a:t> ed il </a:t>
            </a:r>
            <a:r>
              <a:rPr lang="it-IT" sz="1600" b="1" dirty="0"/>
              <a:t>tipo</a:t>
            </a:r>
            <a:r>
              <a:rPr lang="it-IT" sz="1600" dirty="0"/>
              <a:t> di suono</a:t>
            </a:r>
          </a:p>
          <a:p>
            <a:pPr algn="just"/>
            <a:r>
              <a:rPr lang="it-IT" sz="1600" dirty="0"/>
              <a:t>Per via della </a:t>
            </a:r>
            <a:r>
              <a:rPr lang="it-IT" sz="1600" b="1" dirty="0"/>
              <a:t>specifica disposizione delle note </a:t>
            </a:r>
            <a:r>
              <a:rPr lang="it-IT" sz="1600" dirty="0"/>
              <a:t>di questa melodia, quando si hanno note che non sono tra il La ed il Si, ci si porta all’ottava inferiore: se si volesse un programma più generico, bisognerebbe indicare l’ottava di ogni nota della melodia caso per caso</a:t>
            </a:r>
          </a:p>
          <a:p>
            <a:pPr algn="just"/>
            <a:r>
              <a:rPr lang="it-IT" sz="1600" dirty="0"/>
              <a:t>Si definisce, data la durata, l’asse dei tempi, e si procede con la generazione del suono con il tipo desiderato tra i 5 presenti</a:t>
            </a:r>
          </a:p>
          <a:p>
            <a:pPr algn="just"/>
            <a:r>
              <a:rPr lang="it-IT" sz="1600" dirty="0"/>
              <a:t>Dopo la creazione del suono, viene </a:t>
            </a:r>
            <a:r>
              <a:rPr lang="it-IT" sz="1600" b="1" dirty="0"/>
              <a:t>normalizzato</a:t>
            </a:r>
            <a:r>
              <a:rPr lang="it-IT" sz="1600" dirty="0"/>
              <a:t> per standardizzarne l’ampiezza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AF861CA-486D-AEC6-C8E9-3CB4F4055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853" y="1739018"/>
            <a:ext cx="5542813" cy="3968446"/>
          </a:xfrm>
          <a:prstGeom prst="rect">
            <a:avLst/>
          </a:prstGeom>
        </p:spPr>
      </p:pic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094B4D-908B-40BB-5582-4634345BC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4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33A50B1-C28F-12AE-CA05-3ECA213FC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5883525" cy="365125"/>
          </a:xfrm>
        </p:spPr>
        <p:txBody>
          <a:bodyPr/>
          <a:lstStyle/>
          <a:p>
            <a:r>
              <a:rPr lang="it-IT" dirty="0"/>
              <a:t>Sintetizzare una canzone su MATLAB - Amorosini Adriano - Elaborazione Numerica dei Segnali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64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EF13FDA-B284-40AE-7DF8-23F1A5954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it-IT"/>
              <a:t>Suoni puri e suoni complessi</a:t>
            </a:r>
          </a:p>
        </p:txBody>
      </p:sp>
      <p:cxnSp>
        <p:nvCxnSpPr>
          <p:cNvPr id="24" name="Straight Connector 19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DF707C-2E73-D399-D89B-2109EBEA1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7377" y="2449122"/>
            <a:ext cx="4191001" cy="2592275"/>
          </a:xfrm>
        </p:spPr>
        <p:txBody>
          <a:bodyPr anchor="b"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it-IT" sz="1900" dirty="0"/>
              <a:t>Come si può notare, gli ultimi due </a:t>
            </a:r>
            <a:r>
              <a:rPr lang="it-IT" sz="1900" b="1" dirty="0"/>
              <a:t>sono complessi</a:t>
            </a:r>
            <a:r>
              <a:rPr lang="it-IT" sz="1900" dirty="0"/>
              <a:t>, con il contributo di più </a:t>
            </a:r>
            <a:r>
              <a:rPr lang="it-IT" sz="1900" b="1" dirty="0"/>
              <a:t>armoniche</a:t>
            </a:r>
          </a:p>
          <a:p>
            <a:pPr algn="just">
              <a:lnSpc>
                <a:spcPct val="100000"/>
              </a:lnSpc>
            </a:pPr>
            <a:r>
              <a:rPr lang="it-IT" sz="1900" dirty="0"/>
              <a:t>Gli ultimi due sono stati realizzati analizzando le </a:t>
            </a:r>
            <a:r>
              <a:rPr lang="it-IT" sz="1900" b="1" dirty="0"/>
              <a:t>FFT </a:t>
            </a:r>
            <a:r>
              <a:rPr lang="it-IT" sz="1900" dirty="0"/>
              <a:t>di due campioni audio, rispettivamente i La4 di un pianoforte e di un violino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>
            <a:extLst>
              <a:ext uri="{FF2B5EF4-FFF2-40B4-BE49-F238E27FC236}">
                <a16:creationId xmlns:a16="http://schemas.microsoft.com/office/drawing/2014/main" id="{BA1F73FF-A53A-FDCE-AB06-A0374C745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328" y="1819264"/>
            <a:ext cx="7986852" cy="3851992"/>
          </a:xfrm>
          <a:prstGeom prst="rect">
            <a:avLst/>
          </a:prstGeom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E24D1EE-02AE-ACD3-9222-244942AB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5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C8A5C81-59C4-337A-2AA8-7F9E0D2AC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6493125" cy="365125"/>
          </a:xfrm>
        </p:spPr>
        <p:txBody>
          <a:bodyPr/>
          <a:lstStyle/>
          <a:p>
            <a:r>
              <a:rPr lang="it-IT" dirty="0"/>
              <a:t>Sintetizzare una canzone su MATLAB - Amorosini Adriano - Elaborazione Numerica dei Segnali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17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EBE34B9-8843-541D-3AFC-CA47BBD65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5958216" cy="1316736"/>
          </a:xfrm>
        </p:spPr>
        <p:txBody>
          <a:bodyPr>
            <a:normAutofit/>
          </a:bodyPr>
          <a:lstStyle/>
          <a:p>
            <a:r>
              <a:rPr lang="it-IT" dirty="0"/>
              <a:t>L’effetto </a:t>
            </a:r>
            <a:r>
              <a:rPr lang="it-IT" dirty="0" err="1"/>
              <a:t>adsr</a:t>
            </a:r>
            <a:endParaRPr lang="it-IT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52928E-072E-588C-8BA0-CF59DD5B5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924" y="1632014"/>
            <a:ext cx="6662276" cy="3866711"/>
          </a:xfrm>
        </p:spPr>
        <p:txBody>
          <a:bodyPr>
            <a:noAutofit/>
          </a:bodyPr>
          <a:lstStyle/>
          <a:p>
            <a:r>
              <a:rPr lang="it-IT" sz="1500" dirty="0"/>
              <a:t>L’effetto </a:t>
            </a:r>
            <a:r>
              <a:rPr lang="it-IT" sz="1500" b="1" dirty="0"/>
              <a:t>ADSR</a:t>
            </a:r>
            <a:r>
              <a:rPr lang="it-IT" sz="1500" dirty="0"/>
              <a:t> (Attack, </a:t>
            </a:r>
            <a:r>
              <a:rPr lang="it-IT" sz="1500" dirty="0" err="1"/>
              <a:t>Decay</a:t>
            </a:r>
            <a:r>
              <a:rPr lang="it-IT" sz="1500" dirty="0"/>
              <a:t>, </a:t>
            </a:r>
            <a:r>
              <a:rPr lang="it-IT" sz="1500" dirty="0" err="1"/>
              <a:t>Sustain</a:t>
            </a:r>
            <a:r>
              <a:rPr lang="it-IT" sz="1500" dirty="0"/>
              <a:t>, Release) è un inviluppo usato per modellare l’andamento dell’ampiezza di un suono nel tempo, in modo da renderlo più naturale.</a:t>
            </a:r>
          </a:p>
          <a:p>
            <a:pPr algn="just"/>
            <a:r>
              <a:rPr lang="it-IT" sz="1500" b="1" dirty="0"/>
              <a:t>Attack</a:t>
            </a:r>
            <a:r>
              <a:rPr lang="it-IT" sz="1500" dirty="0"/>
              <a:t> è il tempo per raggiungere il volume massimo; </a:t>
            </a:r>
            <a:r>
              <a:rPr lang="it-IT" sz="1500" b="1" dirty="0" err="1"/>
              <a:t>Decay</a:t>
            </a:r>
            <a:r>
              <a:rPr lang="it-IT" sz="1500" dirty="0"/>
              <a:t> è la discesa fino al livello di </a:t>
            </a:r>
            <a:r>
              <a:rPr lang="it-IT" sz="1500" b="1" dirty="0" err="1"/>
              <a:t>Sustain</a:t>
            </a:r>
            <a:r>
              <a:rPr lang="it-IT" sz="1500" dirty="0"/>
              <a:t>, che resta costante finché la nota è tenuta, e </a:t>
            </a:r>
            <a:r>
              <a:rPr lang="it-IT" sz="1500" b="1" dirty="0"/>
              <a:t>Release</a:t>
            </a:r>
            <a:r>
              <a:rPr lang="it-IT" sz="1500" dirty="0"/>
              <a:t> è il tempo impiegato per svanire dopo il rilascio. </a:t>
            </a:r>
          </a:p>
          <a:p>
            <a:pPr algn="just"/>
            <a:r>
              <a:rPr lang="it-IT" sz="1500" dirty="0"/>
              <a:t>Questa funzione </a:t>
            </a:r>
            <a:r>
              <a:rPr lang="it-IT" sz="1500" b="1" dirty="0"/>
              <a:t>riceve in ingresso </a:t>
            </a:r>
            <a:r>
              <a:rPr lang="it-IT" sz="1500" dirty="0"/>
              <a:t>la frequenza di campionamento, il suono la durata complessiva di quest’ultimo, i tempi di </a:t>
            </a:r>
            <a:r>
              <a:rPr lang="it-IT" sz="1500" dirty="0" err="1"/>
              <a:t>attack</a:t>
            </a:r>
            <a:r>
              <a:rPr lang="it-IT" sz="1500" dirty="0"/>
              <a:t>, delay and release (e, di conseguenza, anche quello di </a:t>
            </a:r>
            <a:r>
              <a:rPr lang="it-IT" sz="1500" dirty="0" err="1"/>
              <a:t>sustain</a:t>
            </a:r>
            <a:r>
              <a:rPr lang="it-IT" sz="1500" dirty="0"/>
              <a:t> in modo indiretto) in percentuale ed infine l’ampiezza relativa del suono in fase di </a:t>
            </a:r>
            <a:r>
              <a:rPr lang="it-IT" sz="1500" dirty="0" err="1"/>
              <a:t>sustain</a:t>
            </a:r>
            <a:endParaRPr lang="it-IT" sz="1500" dirty="0"/>
          </a:p>
          <a:p>
            <a:r>
              <a:rPr lang="it-IT" sz="1500" dirty="0"/>
              <a:t>Dopo aver convertito i tempi relativi in tempi effettivi, crea il </a:t>
            </a:r>
            <a:r>
              <a:rPr lang="it-IT" sz="1500" b="1" dirty="0"/>
              <a:t>vettore inviluppo «E»</a:t>
            </a:r>
            <a:r>
              <a:rPr lang="it-IT" sz="1500" dirty="0"/>
              <a:t>, per poi moltiplicarlo (e quindi applicarlo) al suono originale</a:t>
            </a:r>
          </a:p>
          <a:p>
            <a:r>
              <a:rPr lang="it-IT" sz="1500" dirty="0"/>
              <a:t>La presenza delle funzioni di arrotondamento </a:t>
            </a:r>
            <a:r>
              <a:rPr lang="it-IT" sz="1500" b="1" dirty="0"/>
              <a:t>round() </a:t>
            </a:r>
            <a:r>
              <a:rPr lang="it-IT" sz="1500" dirty="0"/>
              <a:t>non è necessaria nell’esempio presente nel codice, ma può risparmiare eventuali </a:t>
            </a:r>
            <a:r>
              <a:rPr lang="it-IT" sz="1500" b="1" dirty="0"/>
              <a:t>«warning» </a:t>
            </a:r>
            <a:r>
              <a:rPr lang="it-IT" sz="1500" dirty="0"/>
              <a:t>nel terminale particolarmente invasivi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>
            <a:extLst>
              <a:ext uri="{FF2B5EF4-FFF2-40B4-BE49-F238E27FC236}">
                <a16:creationId xmlns:a16="http://schemas.microsoft.com/office/drawing/2014/main" id="{3E7A98D4-2997-A80F-8371-9B38CDABD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869" y="4210451"/>
            <a:ext cx="4076700" cy="186609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9DBC086-E49E-336E-DC79-68B327909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277" y="330083"/>
            <a:ext cx="4131885" cy="3098914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84521C-31AC-B62B-FB95-30C03DBB8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412E6CF-4B32-EE7D-FA86-BCE3EB5C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5715000" cy="365125"/>
          </a:xfrm>
        </p:spPr>
        <p:txBody>
          <a:bodyPr/>
          <a:lstStyle/>
          <a:p>
            <a:r>
              <a:rPr lang="it-IT" dirty="0"/>
              <a:t>Sintetizzare una canzone su MATLAB - Amorosini Adriano - Elaborazione Numerica dei Segnali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838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8B11C1-68F2-FC5A-5481-3E9DEDD37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FUNZIONE PER CREARE LA MELODIA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2F099C-3866-C0F8-C68C-DCEAA36AC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2015613"/>
            <a:ext cx="4671465" cy="3617737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Con questa funzione, per ogni </a:t>
            </a:r>
            <a:r>
              <a:rPr lang="it-IT" b="1" dirty="0"/>
              <a:t>coppia </a:t>
            </a:r>
            <a:r>
              <a:rPr lang="it-IT" dirty="0"/>
              <a:t>rappresentante una </a:t>
            </a:r>
            <a:r>
              <a:rPr lang="it-IT" b="1" dirty="0"/>
              <a:t>nota</a:t>
            </a:r>
            <a:r>
              <a:rPr lang="it-IT" dirty="0"/>
              <a:t>, ne individua </a:t>
            </a:r>
            <a:r>
              <a:rPr lang="it-IT" b="1" dirty="0"/>
              <a:t>codice e durata</a:t>
            </a:r>
          </a:p>
          <a:p>
            <a:pPr algn="just"/>
            <a:r>
              <a:rPr lang="it-IT" dirty="0"/>
              <a:t>Se il tipo di nota è indicato come </a:t>
            </a:r>
            <a:r>
              <a:rPr lang="it-IT" b="1" dirty="0" err="1"/>
              <a:t>NaN</a:t>
            </a:r>
            <a:r>
              <a:rPr lang="it-IT" dirty="0"/>
              <a:t>, verrà interpretato come una </a:t>
            </a:r>
            <a:r>
              <a:rPr lang="it-IT" b="1" dirty="0"/>
              <a:t>pausa</a:t>
            </a:r>
            <a:r>
              <a:rPr lang="it-IT" dirty="0"/>
              <a:t> con la durata indicata; altrimenti si procederà alla</a:t>
            </a:r>
            <a:r>
              <a:rPr lang="it-IT" b="1" dirty="0"/>
              <a:t> creazione del suono</a:t>
            </a:r>
            <a:r>
              <a:rPr lang="it-IT" dirty="0"/>
              <a:t> con i parametri indicati, </a:t>
            </a:r>
            <a:r>
              <a:rPr lang="it-IT" b="1" dirty="0"/>
              <a:t>comuni a tutte le note della melodia</a:t>
            </a:r>
          </a:p>
          <a:p>
            <a:pPr algn="just"/>
            <a:r>
              <a:rPr lang="it-IT" dirty="0"/>
              <a:t>A seconda del fatto che la durata della nota raggiunga la semiminima o meno,  verrà applicato un </a:t>
            </a:r>
            <a:r>
              <a:rPr lang="it-IT" b="1" dirty="0"/>
              <a:t>effetto ADSR </a:t>
            </a:r>
            <a:r>
              <a:rPr lang="it-IT" dirty="0"/>
              <a:t>diverso</a:t>
            </a:r>
          </a:p>
          <a:p>
            <a:r>
              <a:rPr lang="it-IT" dirty="0"/>
              <a:t>Dopo aver creato il suono, lo </a:t>
            </a:r>
            <a:r>
              <a:rPr lang="it-IT" b="1" dirty="0"/>
              <a:t>concatena alla melodia</a:t>
            </a:r>
            <a:r>
              <a:rPr lang="it-IT" dirty="0"/>
              <a:t>, che verrà poi salvata nella variabile </a:t>
            </a:r>
            <a:r>
              <a:rPr lang="it-IT" b="1" dirty="0"/>
              <a:t>«</a:t>
            </a:r>
            <a:r>
              <a:rPr lang="it-IT" b="1" dirty="0" err="1"/>
              <a:t>melodiaAudio</a:t>
            </a:r>
            <a:r>
              <a:rPr lang="it-IT" b="1" dirty="0"/>
              <a:t>»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99D38CE-5D05-BDD1-C9B8-D4B30D3C5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225" y="1764752"/>
            <a:ext cx="5502117" cy="45724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F5295FE-BB92-B17B-9B4F-3AA015FD3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224" y="2895336"/>
            <a:ext cx="5041775" cy="2893415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CE1C615-3920-B5DA-4E83-6AD010E7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7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14A38E0-EFF0-E98A-A129-9956EA679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6729099" cy="365125"/>
          </a:xfrm>
        </p:spPr>
        <p:txBody>
          <a:bodyPr/>
          <a:lstStyle/>
          <a:p>
            <a:r>
              <a:rPr lang="it-IT"/>
              <a:t>Sintetizzare una canzone su MATLAB - Amorosini Adriano - Elaborazione Numerica dei Segnali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501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3D0AD61-C4EE-4A0B-8733-BAE046F63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653AF90-B7BA-2DCB-3AFE-461F4848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803485" cy="845674"/>
          </a:xfrm>
        </p:spPr>
        <p:txBody>
          <a:bodyPr>
            <a:normAutofit/>
          </a:bodyPr>
          <a:lstStyle/>
          <a:p>
            <a:r>
              <a:rPr lang="it-IT" dirty="0"/>
              <a:t>Dalla creazione dell’accordo…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627202-EFF9-43AD-A17D-9C0A58353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 descr="Immagine che contiene testo, linea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69B31CE2-EEAA-365A-029C-3DBE43AED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89" y="4683714"/>
            <a:ext cx="3683581" cy="819596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4ECAEC-1A4B-E2FA-DD4F-9A1B766EA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0636" y="1855074"/>
            <a:ext cx="7092936" cy="407412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900" dirty="0"/>
              <a:t>In una </a:t>
            </a:r>
            <a:r>
              <a:rPr lang="it-IT" sz="1900" b="1" dirty="0"/>
              <a:t>triade maggiore</a:t>
            </a:r>
            <a:r>
              <a:rPr lang="it-IT" sz="1900" dirty="0"/>
              <a:t>, oltre alla </a:t>
            </a:r>
            <a:r>
              <a:rPr lang="it-IT" sz="1900" b="1" dirty="0"/>
              <a:t>fondamentale</a:t>
            </a:r>
            <a:r>
              <a:rPr lang="it-IT" sz="1900" dirty="0"/>
              <a:t>, sono presenti anche altri due suoni, rispettivamente a 4 e 7 </a:t>
            </a:r>
            <a:r>
              <a:rPr lang="it-IT" sz="1900" b="1" dirty="0"/>
              <a:t>semitoni di distanza </a:t>
            </a:r>
            <a:r>
              <a:rPr lang="it-IT" sz="1900" dirty="0"/>
              <a:t>(una 3° maggiore ed una 5°)</a:t>
            </a:r>
          </a:p>
          <a:p>
            <a:pPr algn="just">
              <a:lnSpc>
                <a:spcPct val="100000"/>
              </a:lnSpc>
            </a:pPr>
            <a:r>
              <a:rPr lang="it-IT" sz="1900" dirty="0"/>
              <a:t>Dopo aver definito queste distanze costanti col vettore </a:t>
            </a:r>
            <a:r>
              <a:rPr lang="it-IT" sz="1900" b="1" dirty="0"/>
              <a:t>«intervalli», </a:t>
            </a:r>
            <a:r>
              <a:rPr lang="it-IT" sz="1900" dirty="0"/>
              <a:t>vado a calcolare i codici delle note che comporranno l’accordo, salvandoli nel nuovo vettore </a:t>
            </a:r>
            <a:r>
              <a:rPr lang="it-IT" sz="1900" b="1" dirty="0"/>
              <a:t>«gradi»</a:t>
            </a:r>
          </a:p>
          <a:p>
            <a:pPr>
              <a:lnSpc>
                <a:spcPct val="100000"/>
              </a:lnSpc>
            </a:pPr>
            <a:r>
              <a:rPr lang="it-IT" sz="1900" dirty="0"/>
              <a:t>Non rimane quindi che </a:t>
            </a:r>
            <a:r>
              <a:rPr lang="it-IT" sz="1900" b="1" dirty="0"/>
              <a:t>generare</a:t>
            </a:r>
            <a:r>
              <a:rPr lang="it-IT" sz="1900" dirty="0"/>
              <a:t>, per ogni nota, il suo suono, e </a:t>
            </a:r>
            <a:r>
              <a:rPr lang="it-IT" sz="1900" b="1" dirty="0"/>
              <a:t>sommarla all’accordo</a:t>
            </a:r>
          </a:p>
          <a:p>
            <a:pPr>
              <a:lnSpc>
                <a:spcPct val="100000"/>
              </a:lnSpc>
            </a:pPr>
            <a:r>
              <a:rPr lang="it-IT" sz="1900" dirty="0"/>
              <a:t>La presenza di </a:t>
            </a:r>
            <a:r>
              <a:rPr lang="it-IT" sz="1900" b="1" dirty="0"/>
              <a:t>un’ottava «condivisa» </a:t>
            </a:r>
            <a:r>
              <a:rPr lang="it-IT" sz="1900" dirty="0"/>
              <a:t>risulta utile anche per questa funzione: grazie a questa scelta, gli accordi assumeranno, per ogni caso, un </a:t>
            </a:r>
            <a:r>
              <a:rPr lang="it-IT" sz="1900" b="1" dirty="0"/>
              <a:t>rivolto</a:t>
            </a:r>
            <a:r>
              <a:rPr lang="it-IT" sz="1900" dirty="0"/>
              <a:t> tale da non allontanarsi mai troppo a vicenda, dando un senso di </a:t>
            </a:r>
            <a:r>
              <a:rPr lang="it-IT" sz="1900" b="1" dirty="0"/>
              <a:t>«continuità» </a:t>
            </a:r>
            <a:r>
              <a:rPr lang="it-IT" sz="1900" dirty="0"/>
              <a:t>all’accompagnamento</a:t>
            </a:r>
          </a:p>
          <a:p>
            <a:pPr>
              <a:lnSpc>
                <a:spcPct val="100000"/>
              </a:lnSpc>
            </a:pPr>
            <a:endParaRPr lang="it-IT" sz="19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122FEF2-9343-4D52-A0EA-3EB03CB8B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>
            <a:extLst>
              <a:ext uri="{FF2B5EF4-FFF2-40B4-BE49-F238E27FC236}">
                <a16:creationId xmlns:a16="http://schemas.microsoft.com/office/drawing/2014/main" id="{24F9F2E1-86A3-5969-37A9-18A8B0D4A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89" y="2203787"/>
            <a:ext cx="3689104" cy="1448516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C9F5B9-CBDA-C3C8-02AE-2077C400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8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81A1EF9-ABF2-7AFF-FC9D-6AFE64EC4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7171551" cy="365125"/>
          </a:xfrm>
        </p:spPr>
        <p:txBody>
          <a:bodyPr/>
          <a:lstStyle/>
          <a:p>
            <a:r>
              <a:rPr lang="it-IT" dirty="0"/>
              <a:t>Sintetizzare una canzone su MATLAB - Amorosini Adriano - Elaborazione Numerica dei Segnali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451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1BB75A-071C-6864-071D-6E914476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…alla sintesi dell’accompagnamento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0EF573-4C33-98C2-16A2-9DC0D8CAC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8" y="1777514"/>
            <a:ext cx="10691264" cy="3739896"/>
          </a:xfrm>
        </p:spPr>
        <p:txBody>
          <a:bodyPr/>
          <a:lstStyle/>
          <a:p>
            <a:r>
              <a:rPr lang="it-IT" dirty="0"/>
              <a:t>Percorrendo il </a:t>
            </a:r>
            <a:r>
              <a:rPr lang="it-IT" b="1" dirty="0"/>
              <a:t>vettore «accordi» </a:t>
            </a:r>
            <a:r>
              <a:rPr lang="it-IT" dirty="0"/>
              <a:t>che, come avevamo già visto, si limita a presentare le </a:t>
            </a:r>
            <a:r>
              <a:rPr lang="it-IT" b="1" dirty="0"/>
              <a:t>rispettive toniche</a:t>
            </a:r>
            <a:r>
              <a:rPr lang="it-IT" dirty="0"/>
              <a:t>, andiamo a creare per ognuna di queste il suo accordo, andando poi ad applicarci l’effetto ADSR.</a:t>
            </a:r>
          </a:p>
          <a:p>
            <a:pPr algn="just"/>
            <a:r>
              <a:rPr lang="it-IT" dirty="0"/>
              <a:t>Il singolo accordo, dopo la sua sintesi, verrà concatenato </a:t>
            </a:r>
            <a:r>
              <a:rPr lang="it-IT" b="1" dirty="0"/>
              <a:t>all’accompagnamento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27A84DD-9367-0B39-E965-570D1829F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687" y="3879137"/>
            <a:ext cx="7616625" cy="1513744"/>
          </a:xfrm>
          <a:prstGeom prst="rect">
            <a:avLst/>
          </a:prstGeo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DBC3F2-8DB1-5036-2DA8-8C87D3EE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9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74F42ED-F999-E2E9-6702-1D9C7CB2F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7122389" cy="365125"/>
          </a:xfrm>
        </p:spPr>
        <p:txBody>
          <a:bodyPr/>
          <a:lstStyle/>
          <a:p>
            <a:r>
              <a:rPr lang="it-IT" dirty="0"/>
              <a:t>Sintetizzare una canzone su MATLAB - Amorosini Adriano - Elaborazione Numerica dei Segnali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366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D64BCFD-883E-5345-F49D-D75BEEBF9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6283419" cy="1316736"/>
          </a:xfrm>
        </p:spPr>
        <p:txBody>
          <a:bodyPr>
            <a:normAutofit/>
          </a:bodyPr>
          <a:lstStyle/>
          <a:p>
            <a:r>
              <a:rPr lang="it-IT" dirty="0"/>
              <a:t>E musica sia!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EDDB4C-6582-43D5-AF25-99F4AD3A1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7AEA2A-9212-4B46-A348-91ACDAEEE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7" y="2226373"/>
            <a:ext cx="6283419" cy="3721990"/>
          </a:xfrm>
        </p:spPr>
        <p:txBody>
          <a:bodyPr>
            <a:normAutofit/>
          </a:bodyPr>
          <a:lstStyle/>
          <a:p>
            <a:pPr algn="just"/>
            <a:r>
              <a:rPr lang="it-IT" dirty="0"/>
              <a:t>Per via di eventuali arrotondamenti o scelte artistiche, la lunghezza dell’accompagnamento e della melodia potrebbero differire</a:t>
            </a:r>
          </a:p>
          <a:p>
            <a:r>
              <a:rPr lang="it-IT" dirty="0"/>
              <a:t>Per poterli sommare, sarà necessario fare lo </a:t>
            </a:r>
            <a:r>
              <a:rPr lang="it-IT" b="1" dirty="0"/>
              <a:t>zero-</a:t>
            </a:r>
            <a:r>
              <a:rPr lang="it-IT" b="1" dirty="0" err="1"/>
              <a:t>padding</a:t>
            </a:r>
            <a:r>
              <a:rPr lang="it-IT" dirty="0"/>
              <a:t> sul vettore più corto</a:t>
            </a:r>
          </a:p>
          <a:p>
            <a:pPr algn="just"/>
            <a:r>
              <a:rPr lang="it-IT" dirty="0"/>
              <a:t>Per concludere, si salva la somma dei due contributi nel </a:t>
            </a:r>
            <a:r>
              <a:rPr lang="it-IT" b="1" dirty="0"/>
              <a:t>vettore «output» </a:t>
            </a:r>
            <a:r>
              <a:rPr lang="it-IT" dirty="0"/>
              <a:t>e ci si gode (forse) il </a:t>
            </a:r>
            <a:r>
              <a:rPr lang="it-IT" b="1" dirty="0"/>
              <a:t>risultato</a:t>
            </a:r>
            <a:r>
              <a:rPr lang="it-IT" dirty="0"/>
              <a:t>!</a:t>
            </a:r>
          </a:p>
          <a:p>
            <a:r>
              <a:rPr lang="it-IT" dirty="0"/>
              <a:t>Tra le immagini, ecco anche lo </a:t>
            </a:r>
            <a:r>
              <a:rPr lang="it-IT" b="1" dirty="0"/>
              <a:t>spartito</a:t>
            </a:r>
            <a:r>
              <a:rPr lang="it-IT" dirty="0"/>
              <a:t> di partenza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6695BFF-733B-E5E3-6B68-3535EB041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76" y="1344611"/>
            <a:ext cx="4501804" cy="217212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2A23FB1-0A74-8238-A32F-3E8C4D9D8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506" y="3965426"/>
            <a:ext cx="5061022" cy="172866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152A91-2920-4848-A8BC-B15DA324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E0439B-7AF1-5F91-243F-CED2646D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10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CA8BFCA-784F-F7CB-F139-6B8B223A9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5559060" cy="365125"/>
          </a:xfrm>
        </p:spPr>
        <p:txBody>
          <a:bodyPr/>
          <a:lstStyle/>
          <a:p>
            <a:r>
              <a:rPr lang="it-IT" dirty="0"/>
              <a:t>Sintetizzare una canzone su MATLAB - Amorosini Adriano - Elaborazione Numerica dei Segnali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24084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205FFB6EA485C4795A76C5E1D0FEE38" ma:contentTypeVersion="1" ma:contentTypeDescription="Creare un nuovo documento." ma:contentTypeScope="" ma:versionID="b2545f132588a9f96c11ad9d0937ef01">
  <xsd:schema xmlns:xsd="http://www.w3.org/2001/XMLSchema" xmlns:xs="http://www.w3.org/2001/XMLSchema" xmlns:p="http://schemas.microsoft.com/office/2006/metadata/properties" xmlns:ns3="d3482313-5362-4aaf-b5af-7bd7079fa20b" targetNamespace="http://schemas.microsoft.com/office/2006/metadata/properties" ma:root="true" ma:fieldsID="16fd5bd0f59622270c17400331b9c8c2" ns3:_="">
    <xsd:import namespace="d3482313-5362-4aaf-b5af-7bd7079fa20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482313-5362-4aaf-b5af-7bd7079fa20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170B58C-AACE-4D34-A03F-B80766792C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44C51D-2C6A-4F95-81A7-2BDC27110E49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3482313-5362-4aaf-b5af-7bd7079fa20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F338C81-E708-4D44-808F-1180B9D45680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1136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Aptos</vt:lpstr>
      <vt:lpstr>Arial</vt:lpstr>
      <vt:lpstr>Calisto MT</vt:lpstr>
      <vt:lpstr>Univers Condensed</vt:lpstr>
      <vt:lpstr>ChronicleVTI</vt:lpstr>
      <vt:lpstr>SINTETIZZARE UNA CANZONE SU MATLAB</vt:lpstr>
      <vt:lpstr>Cos'è UN SUONO E COME SI RAPPRESENTA</vt:lpstr>
      <vt:lpstr>L’idea del programma</vt:lpstr>
      <vt:lpstr>La funzione per creare un suono</vt:lpstr>
      <vt:lpstr>Suoni puri e suoni complessi</vt:lpstr>
      <vt:lpstr>L’effetto adsr</vt:lpstr>
      <vt:lpstr>LA FUNZIONE PER CREARE LA MELODIA</vt:lpstr>
      <vt:lpstr>Dalla creazione dell’accordo…</vt:lpstr>
      <vt:lpstr>…alla sintesi dell’accompagnamento</vt:lpstr>
      <vt:lpstr>E musica sia!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SINTETIZZARE UNA CANZONE SU MATLAB</dc:title>
  <dc:creator>AMOROSINI ADRIANO</dc:creator>
  <cp:lastModifiedBy>AMOROSINI ADRIANO</cp:lastModifiedBy>
  <cp:revision>3</cp:revision>
  <dcterms:created xsi:type="dcterms:W3CDTF">2025-06-20T19:10:17Z</dcterms:created>
  <dcterms:modified xsi:type="dcterms:W3CDTF">2025-06-26T06:52:28Z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0x010100C205FFB6EA485C4795A76C5E1D0FEE38</vt:lpwstr>
  </property>
</Properties>
</file>